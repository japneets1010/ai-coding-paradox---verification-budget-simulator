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26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CO-OP Project at Industry (Module-2) (22CS421)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Code Generation to Code Verification: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Explaining and Mitigating the AI Productivity Paradox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Software Engineering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Japneet Singh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2210990434, G7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cs typeface="Times New Roman" pitchFamily="34" charset="-120"/>
              </a:rPr>
              <a:t>Dr. Monika Aggarwal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950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B.E. (Computer Science and Engineering), Chitkara University, Punjab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Background: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coding assistants (e.g., GitHub Copilot, Cursor, ChatGPT) can accelerate code drafting, but software value is realized through an end-to-end pipeline including code review, testing, security, and maintainability.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Objectives: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(1) Synthesize research on AI assistant productivity impact, (2) Describe the 'AI Productivity Paradox' via the Lifecycle Bottleneck Model, and (3) Propose an AI Productivity Workflow.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965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Methods: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synthesis of research (2023–2025) using controlled experiments, field experiments, organizational telemetry, security evaluations, and a global developer survey.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468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Findings: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 tasks show 55.8% speed gain; but real-world RCT shows 19% slowdown. PR review time up 91%, security architectural flaws up 153%, privilege escalation paths up 322%.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AI-enhanced development yields net productivity gains only when teams invest in verification through small reviewable changes, automation gates, AI-integrated review, and whole-cycle quality metrics.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Keywords: AI coding assistants, software engineering productivity, code review, application security, generative AI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Statistics at a Glance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" y="868680"/>
            <a:ext cx="2148840" cy="3200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" y="1029723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+55.8%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82880" y="2128978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on narrow Copilot tasks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" y="33329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Peng et al. (2023)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66010" y="868680"/>
            <a:ext cx="2148840" cy="3200400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366010" y="1001364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-19%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457450" y="2123694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Slower on realistic OSS issues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57450" y="3292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 (2025)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17720" y="868680"/>
            <a:ext cx="2148840" cy="320040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06290" y="1026942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+91%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706602" y="2103871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Longer PR review time (high AI adoption)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09160" y="334252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Faros AI (2025)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855571"/>
            <a:ext cx="2148840" cy="320040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26580" y="1026414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+322%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972300" y="210360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privilege escalation paths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1802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Apiiro (2025)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7772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coding assistants have become integral to software development workflows—autocompleting code, generating tests, scaffolding services, and answering implementation questions.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intuitive assumption: faster coding per hour = faster software delivery per week.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 tells a different story. Speed of coding does not necessarily translate into speed of software delivery.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788920"/>
            <a:ext cx="8412480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 Productivity Paradox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makes first drafts cheaper — but makes production-ready software more costly. The bottleneck has shifted from code production to code verification.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Evidence Base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synthesis of 7 primary sources (2023–2025) covering: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234440"/>
            <a:ext cx="54864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Peng et al. (2023)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34640" y="1234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experiment — 55.8% faster task completion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719072"/>
            <a:ext cx="54864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719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Cui et al. (2025)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34640" y="17190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field experiments, 4,867 developers — +26.08% completed tasks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203704"/>
            <a:ext cx="54864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203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 (2025)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834640" y="22037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RCT, 16 OSS developers, 246 issues — 19% slower completion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2688336"/>
            <a:ext cx="54864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2688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Faros AI (2025)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34640" y="26883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Telemetry, 10,000+ developers — +91% review time, +154% PR size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172968"/>
            <a:ext cx="54864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172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Apiiro (2025)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834640" y="31729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security analysis — +322% privilege escalation, +153% design flaws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" y="3657600"/>
            <a:ext cx="54864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Overflow (2025)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83464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49,009 responses, 177 countries — 66% 'almost right', 45.2% harder debugging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142232"/>
            <a:ext cx="54864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8640" y="4142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Cerbos (2025)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834640" y="41422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Practitioner synthesis — connects empirical data to workflow decision-making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Mixed Productivity Outcomes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4023360" cy="3474720"/>
          </a:xfrm>
          <a:prstGeom prst="rect">
            <a:avLst/>
          </a:prstGeom>
          <a:solidFill>
            <a:srgbClr val="FFF5F5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841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AI Helps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+55.8% faster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contained HTTP server task (Peng et al., 2023)
</a:t>
            </a: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+26.08% more tasks completed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across 4,867 developers in field experiments (Cui et al., 2025)
</a:t>
            </a:r>
            <a:r>
              <a:rPr lang="en-US" sz="13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for: narrow, well-specified, repetitive tasks with clear acceptance criteria.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804672"/>
            <a:ext cx="42062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09160" y="841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AI Hinders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00600" y="123444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-19% slower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experienced OSS developers on real-world issues — even though they felt more productive (METR, 2025)
</a:t>
            </a:r>
            <a:r>
              <a:rPr lang="en-US" sz="13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creates perceived productivity via blank-page removal and visible outputs — even when real delivery slows.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Bottleneck Shifts to Review &amp; Validation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Faros AI (2025) — Telemetry from 10,000+ developers, 1,255 teams: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16002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+21%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148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 Tasks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03120" y="1261872"/>
            <a:ext cx="160020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03120" y="13258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+98%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4884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Merged PRs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1261872"/>
            <a:ext cx="160020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0" y="13258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+91%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88620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 Review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1261872"/>
            <a:ext cx="160020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77840" y="13258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+154%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62356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 Size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0" y="1261872"/>
            <a:ext cx="160020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0" y="13258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+9%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36092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Bugs per Developer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2926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produces more output than ever — but human validation cannot scale at the same pace. More output enters a fixed-capacity validation queue, creating the bottleneck.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High-AI-adoption teams: +9% daily tasks, +47% more PRs — developers manage multiple workstreams with limited AI assistance each.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Security Risk Becomes Deeper, Not Simpler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Apiiro (2025) — AI changes the shape of risk: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265176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Superficial Errors Decrease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16002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-76%
</a:t>
            </a: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syntax problems
</a:t>
            </a:r>
            <a:r>
              <a:rPr lang="en-US" sz="28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-60%
</a:t>
            </a: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 discrepancies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017520" y="2331720"/>
            <a:ext cx="54864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71800" y="2450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188720"/>
            <a:ext cx="5212080" cy="22860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Security Risks Surge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4904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+322% </a:t>
            </a: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Privilege escalation paths (AI vs non-AI)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4904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+153% </a:t>
            </a: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Architectural design flaws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49040" y="24871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+40% </a:t>
            </a: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Secrets leaked (Copilot repos vs all public repos, GitGuardian 2025)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49040" y="29169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10,000+ </a:t>
            </a: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AI-related security issues per month (June 2025)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AI-generated code enables exponentially more unvalidated, unsafe code in less time than teams can thoroughly validate.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Developer Experience — Useful Yet Frustrating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Overflow Developer Survey 2025 — 49,009 respondents, 177 countries: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664208"/>
            <a:ext cx="84124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664208"/>
            <a:ext cx="4374490" cy="182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280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52% —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positive productivity impact from AI tools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468880"/>
            <a:ext cx="84124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2468880"/>
            <a:ext cx="5552237" cy="1828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20848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66% —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'almost correct, but not quite' the most frustrating aspect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273552"/>
            <a:ext cx="84124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3273552"/>
            <a:ext cx="3802441" cy="1828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288950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45.2% —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say debugging AI-generated code takes longer than necessary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4078224"/>
            <a:ext cx="84124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4078224"/>
            <a:ext cx="3869741" cy="1828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36941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46% —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don't trust AI enough — vs only 33% who do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is useful — but it shifts effort from writing to inspecting, validating, and verifying.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Discussion: The Verification Budget Model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T_delivery  =  T_write  +  T_verify  +  T_rework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reduces T_write — but if T_verify and T_rework grow, total delivery time may increase.
</a:t>
            </a: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Verification Budget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the finite capacity available for reliable verification: reviewer effort, CI pipeline runs, integration tests, security reviews, and change communication.
</a:t>
            </a: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this budget is exhausted:
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090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Items queue waiting for review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4107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Turnaround lengthens due to lost context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7307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Urgency triggers shallow approvals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0507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Delivery quantity doesn't reflect quality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4407408"/>
            <a:ext cx="8412480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Cerbos (2025): AI gives instant gratification (dopamine) from generated output — but testing, edge-case handling, architecture alignment, and collaboration remain human work.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Framework for Sustainable AI-Assisted Development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429768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868680"/>
            <a:ext cx="45720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8686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94183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Triage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1280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AI selectively — best for narrow, explicit tasks. Avoid for legacy, cross-enterprise, or logic-heavy systems where implicit constraints increase risk.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868680"/>
            <a:ext cx="429768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45720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0" y="8686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85232" y="94183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Smaller Pull Requests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85232" y="1280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reviewability with stacked/sliced PRs, human-written intent summaries, and separation of refactors from features.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286000"/>
            <a:ext cx="429768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2286000"/>
            <a:ext cx="45720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22860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4672" y="23591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AI-Aware Review Checklists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" y="26974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 on: Authorization Flow, Input Validation, Secret Management, Architecture Constraints, and sufficient test coverage.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2286000"/>
            <a:ext cx="429768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54880" y="2286000"/>
            <a:ext cx="45720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0" y="22860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285232" y="23591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 Repeatable Validation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285232" y="26974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 source code scanning and static analysis by default. Free humans for correctness and design review.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74320" y="3703320"/>
            <a:ext cx="45720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74320" y="370332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04672" y="3776472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Delivery Outcomes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04672" y="4114800"/>
            <a:ext cx="8001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Track: review latency, defect resolution time, defect recurrence, security incidents — NOT lines of code or accepted suggestions.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Conclusion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Most sources are industry reports, not peer-reviewed — methods and motivations must be considered critically.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819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Studies measure different things (task time vs. throughput vs. security findings) — metrics are not directly comparable.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751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AI technologies evolve rapidly — findings reflect a 2023–2025 snapshot, not permanent truths.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423160"/>
            <a:ext cx="84124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2514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" y="288036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"AI is changing where the work gets done"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not eliminating it.
AI reduces the cost of the first draft, but may increase the cost of proving that draft is correct, secure, and maintainable.
</a:t>
            </a: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process adjustments: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larger PRs, longer review times, harder debugging, and an illusion of busyness without delivered value.
</a:t>
            </a: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the right adjustments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(task triage, small edits, explicit review, checklists): AI productivity benefits can be fully realized.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Apiiro. (2025, Feb 26). Faster code, greater risks: The security trade-off of AI-driven development.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2984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Apiiro. (2025, Sep 4). 4x Velocity, 10x Vulnerabilities: AI Coding Assistants Are Shipping More Risks.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7556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Cerbos. (2025, Sep 12). The productivity paradox of AI coding assistants.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2128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Cui, K. Z., et al. (2025). The Effects of Generative AI on High-Skilled Work: Evidence from Three Field Experiments with Software Developers.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6700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Faros AI. (2025). The AI Productivity Paradox Report 2025.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127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GitGuardian. (2025). The State of Secrets Sprawl 2025.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5844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METR. (2025, Jul 10). Measuring the Impact of Early-2025 AI on Experienced Open-Source Developer Productivity.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0416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Peng, S., et al. (2023). The Impact of AI on Developer Productivity: Evidence from GitHub Copilot. arXiv.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4988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Overflow. (2025). AI | 2025 Stack Overflow Developer Survey.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hitkara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"/>
            <a:ext cx="210312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Japneet Singh | 2210990434 | japneet434.be22@chitkara.edu.in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0" y="48234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1595</Words>
  <Application>Microsoft Macintosh PowerPoint</Application>
  <PresentationFormat>On-screen Show (16:9)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Productivity Paradox - Japneet Singh</dc:title>
  <dc:subject>PptxGenJS Presentation</dc:subject>
  <dc:creator>PptxGenJS</dc:creator>
  <cp:lastModifiedBy>Japneet Singh</cp:lastModifiedBy>
  <cp:revision>2</cp:revision>
  <dcterms:created xsi:type="dcterms:W3CDTF">2026-04-28T17:55:36Z</dcterms:created>
  <dcterms:modified xsi:type="dcterms:W3CDTF">2026-04-29T06:26:42Z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a6565c-f314-45c8-b8ba-9d8cb64e2768_Enabled">
    <vt:lpwstr>true</vt:lpwstr>
  </property>
  <property fmtid="{D5CDD505-2E9C-101B-9397-08002B2CF9AE}" pid="3" name="MSIP_Label_bca6565c-f314-45c8-b8ba-9d8cb64e2768_SetDate">
    <vt:lpwstr>2026-04-29T06:21:34Z</vt:lpwstr>
  </property>
  <property fmtid="{D5CDD505-2E9C-101B-9397-08002B2CF9AE}" pid="4" name="MSIP_Label_bca6565c-f314-45c8-b8ba-9d8cb64e2768_Method">
    <vt:lpwstr>Privileged</vt:lpwstr>
  </property>
  <property fmtid="{D5CDD505-2E9C-101B-9397-08002B2CF9AE}" pid="5" name="MSIP_Label_bca6565c-f314-45c8-b8ba-9d8cb64e2768_Name">
    <vt:lpwstr>SharePoint_Public</vt:lpwstr>
  </property>
  <property fmtid="{D5CDD505-2E9C-101B-9397-08002B2CF9AE}" pid="6" name="MSIP_Label_bca6565c-f314-45c8-b8ba-9d8cb64e2768_SiteId">
    <vt:lpwstr>67bff79e-7f91-4433-a8e5-c9252d2ddc1d</vt:lpwstr>
  </property>
  <property fmtid="{D5CDD505-2E9C-101B-9397-08002B2CF9AE}" pid="7" name="MSIP_Label_bca6565c-f314-45c8-b8ba-9d8cb64e2768_ActionId">
    <vt:lpwstr>527ceecf-0ed2-4b33-8815-60a74c3fbf11</vt:lpwstr>
  </property>
  <property fmtid="{D5CDD505-2E9C-101B-9397-08002B2CF9AE}" pid="8" name="MSIP_Label_bca6565c-f314-45c8-b8ba-9d8cb64e2768_ContentBits">
    <vt:lpwstr>0</vt:lpwstr>
  </property>
  <property fmtid="{D5CDD505-2E9C-101B-9397-08002B2CF9AE}" pid="9" name="MSIP_Label_bca6565c-f314-45c8-b8ba-9d8cb64e2768_Tag">
    <vt:lpwstr>50, 0, 1, 1</vt:lpwstr>
  </property>
</Properties>
</file>